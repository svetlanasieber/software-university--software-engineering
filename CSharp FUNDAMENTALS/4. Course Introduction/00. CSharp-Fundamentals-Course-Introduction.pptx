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613" r:id="rId5"/>
    <p:sldId id="608" r:id="rId6"/>
    <p:sldId id="259" r:id="rId7"/>
    <p:sldId id="260" r:id="rId8"/>
    <p:sldId id="261" r:id="rId9"/>
    <p:sldId id="262" r:id="rId10"/>
    <p:sldId id="263" r:id="rId11"/>
    <p:sldId id="264" r:id="rId12"/>
    <p:sldId id="615" r:id="rId13"/>
    <p:sldId id="265" r:id="rId14"/>
    <p:sldId id="619" r:id="rId15"/>
    <p:sldId id="267" r:id="rId16"/>
    <p:sldId id="616" r:id="rId17"/>
    <p:sldId id="281" r:id="rId18"/>
    <p:sldId id="270" r:id="rId19"/>
    <p:sldId id="276" r:id="rId20"/>
    <p:sldId id="278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8D8D0C9-EFD2-4403-ACB9-26A684091436}">
          <p14:sldIdLst>
            <p14:sldId id="256"/>
            <p14:sldId id="257"/>
            <p14:sldId id="258"/>
          </p14:sldIdLst>
        </p14:section>
        <p14:section name="Diamond Partners" id="{4D65ABC2-87C9-49F6-BC11-6C97A43DF603}">
          <p14:sldIdLst>
            <p14:sldId id="613"/>
            <p14:sldId id="608"/>
          </p14:sldIdLst>
        </p14:section>
        <p14:section name="Course Objective" id="{8AF50F4B-1990-4CB8-B7C5-A44C81D98780}">
          <p14:sldIdLst>
            <p14:sldId id="259"/>
            <p14:sldId id="260"/>
            <p14:sldId id="261"/>
            <p14:sldId id="262"/>
          </p14:sldIdLst>
        </p14:section>
        <p14:section name="Course Organization" id="{50108DD9-032D-40C7-B050-8423478BED0B}">
          <p14:sldIdLst>
            <p14:sldId id="263"/>
            <p14:sldId id="264"/>
            <p14:sldId id="615"/>
            <p14:sldId id="265"/>
            <p14:sldId id="619"/>
          </p14:sldIdLst>
        </p14:section>
        <p14:section name="Team" id="{1D3C3184-CD19-4F67-83FC-4BFA15148473}">
          <p14:sldIdLst>
            <p14:sldId id="267"/>
            <p14:sldId id="616"/>
            <p14:sldId id="281"/>
            <p14:sldId id="270"/>
            <p14:sldId id="276"/>
          </p14:sldIdLst>
        </p14:section>
        <p14:section name="Conclusion" id="{89A238BE-4A7C-49D3-B93F-78FCD0263AAE}">
          <p14:sldIdLst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40D"/>
    <a:srgbClr val="464646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5214" autoAdjust="0"/>
  </p:normalViewPr>
  <p:slideViewPr>
    <p:cSldViewPr showGuides="1">
      <p:cViewPr varScale="1">
        <p:scale>
          <a:sx n="78" d="100"/>
          <a:sy n="78" d="100"/>
        </p:scale>
        <p:origin x="926" y="7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21.3.2023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32014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53411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2463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79491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0541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FC85FFA-4B74-43F4-9C9F-F3386A502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86512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91457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71907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7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oftwaregroup.com/" TargetMode="External"/><Relationship Id="rId13" Type="http://schemas.openxmlformats.org/officeDocument/2006/relationships/image" Target="../media/image26.png"/><Relationship Id="rId18" Type="http://schemas.openxmlformats.org/officeDocument/2006/relationships/hyperlink" Target="https://bosch.io/" TargetMode="External"/><Relationship Id="rId26" Type="http://schemas.openxmlformats.org/officeDocument/2006/relationships/hyperlink" Target="https://dxc.com/us/en" TargetMode="External"/><Relationship Id="rId3" Type="http://schemas.openxmlformats.org/officeDocument/2006/relationships/image" Target="../media/image21.jpeg"/><Relationship Id="rId21" Type="http://schemas.openxmlformats.org/officeDocument/2006/relationships/image" Target="../media/image30.png"/><Relationship Id="rId7" Type="http://schemas.openxmlformats.org/officeDocument/2006/relationships/image" Target="../media/image23.png"/><Relationship Id="rId12" Type="http://schemas.openxmlformats.org/officeDocument/2006/relationships/hyperlink" Target="https://createx.bg/" TargetMode="External"/><Relationship Id="rId17" Type="http://schemas.openxmlformats.org/officeDocument/2006/relationships/image" Target="../media/image28.png"/><Relationship Id="rId25" Type="http://schemas.openxmlformats.org/officeDocument/2006/relationships/image" Target="../media/image32.png"/><Relationship Id="rId2" Type="http://schemas.openxmlformats.org/officeDocument/2006/relationships/hyperlink" Target="https://www.pharvision.ai/" TargetMode="External"/><Relationship Id="rId16" Type="http://schemas.openxmlformats.org/officeDocument/2006/relationships/hyperlink" Target="https://smartit.bg/" TargetMode="External"/><Relationship Id="rId20" Type="http://schemas.openxmlformats.org/officeDocument/2006/relationships/hyperlink" Target="https://it.schwarz/en/careers" TargetMode="External"/><Relationship Id="rId29" Type="http://schemas.openxmlformats.org/officeDocument/2006/relationships/image" Target="../media/image34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postbank.bg/bg-BG" TargetMode="External"/><Relationship Id="rId11" Type="http://schemas.openxmlformats.org/officeDocument/2006/relationships/image" Target="../media/image25.png"/><Relationship Id="rId24" Type="http://schemas.openxmlformats.org/officeDocument/2006/relationships/hyperlink" Target="https://www.draftkings.com/" TargetMode="External"/><Relationship Id="rId5" Type="http://schemas.openxmlformats.org/officeDocument/2006/relationships/image" Target="../media/image22.png"/><Relationship Id="rId15" Type="http://schemas.openxmlformats.org/officeDocument/2006/relationships/image" Target="../media/image27.jpeg"/><Relationship Id="rId23" Type="http://schemas.openxmlformats.org/officeDocument/2006/relationships/image" Target="../media/image31.png"/><Relationship Id="rId28" Type="http://schemas.openxmlformats.org/officeDocument/2006/relationships/hyperlink" Target="https://ambitioned.com/" TargetMode="External"/><Relationship Id="rId10" Type="http://schemas.openxmlformats.org/officeDocument/2006/relationships/hyperlink" Target="https://bg.coca-colahellenic.com/bg/working-with-us" TargetMode="External"/><Relationship Id="rId19" Type="http://schemas.openxmlformats.org/officeDocument/2006/relationships/image" Target="../media/image29.png"/><Relationship Id="rId4" Type="http://schemas.openxmlformats.org/officeDocument/2006/relationships/hyperlink" Target="https://en.superhosting.bg/" TargetMode="External"/><Relationship Id="rId9" Type="http://schemas.openxmlformats.org/officeDocument/2006/relationships/image" Target="../media/image24.png"/><Relationship Id="rId14" Type="http://schemas.openxmlformats.org/officeDocument/2006/relationships/hyperlink" Target="https://www.pokerstars.bg/" TargetMode="External"/><Relationship Id="rId22" Type="http://schemas.openxmlformats.org/officeDocument/2006/relationships/hyperlink" Target="https://indeavr.com/" TargetMode="External"/><Relationship Id="rId27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youtube.com/c/CodeItUpwithIvo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hyperlink" Target="https://softuni.bg/trainings/3949/programming-fundamentals-january-2023" TargetMode="External"/><Relationship Id="rId7" Type="http://schemas.openxmlformats.org/officeDocument/2006/relationships/hyperlink" Target="https://www.facebook.com/groups/ProgrammingFundamentalswithCsharpJanuary202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hyperlink" Target="https://softuni.bg/trainings/3447/programming-fundamentals-with-csharp-september-2021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68275" y="1303142"/>
            <a:ext cx="10962447" cy="882654"/>
          </a:xfrm>
        </p:spPr>
        <p:txBody>
          <a:bodyPr>
            <a:normAutofit/>
          </a:bodyPr>
          <a:lstStyle/>
          <a:p>
            <a:r>
              <a:rPr lang="en-US" dirty="0"/>
              <a:t>Course Introduction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C# Fundamentals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800" dirty="0"/>
              <a:t>Software University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https://softuni.bg/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72561" y="4938804"/>
            <a:ext cx="2950749" cy="382788"/>
          </a:xfrm>
        </p:spPr>
        <p:txBody>
          <a:bodyPr/>
          <a:lstStyle/>
          <a:p>
            <a:r>
              <a:rPr lang="en-US" sz="2000" dirty="0"/>
              <a:t>SoftUni Team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554670" y="5384800"/>
            <a:ext cx="2980696" cy="363552"/>
          </a:xfrm>
        </p:spPr>
        <p:txBody>
          <a:bodyPr/>
          <a:lstStyle/>
          <a:p>
            <a:r>
              <a:rPr lang="en-US" sz="1800" dirty="0"/>
              <a:t>Technical Trainers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AD21C1-E34F-4A20-A9BA-2920F583B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576" y="1884233"/>
            <a:ext cx="4286848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7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Course Objectives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Training and Team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/>
              <a:t>Course Organization</a:t>
            </a:r>
          </a:p>
          <a:p>
            <a:pPr marL="932996" lvl="1" indent="-457200">
              <a:lnSpc>
                <a:spcPts val="4000"/>
              </a:lnSpc>
            </a:pPr>
            <a:r>
              <a:rPr lang="en-US" dirty="0"/>
              <a:t>Course Infrastructure</a:t>
            </a:r>
          </a:p>
          <a:p>
            <a:pPr marL="932996" lvl="1" indent="-457200">
              <a:lnSpc>
                <a:spcPts val="4000"/>
              </a:lnSpc>
            </a:pPr>
            <a:r>
              <a:rPr lang="en-US" dirty="0"/>
              <a:t>Evaluation Criteria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239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/>
              <a:t>#fund-csharp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135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56A635-7DCB-4737-9977-C486C791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bg-BG" dirty="0"/>
          </a:p>
        </p:txBody>
      </p:sp>
      <p:pic>
        <p:nvPicPr>
          <p:cNvPr id="19" name="Picture 18" descr="Logo, company name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F695C7C5-DABF-43EE-A6C1-EAE2EEE0C9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4" t="27513" r="15212" b="31480"/>
          <a:stretch/>
        </p:blipFill>
        <p:spPr>
          <a:xfrm>
            <a:off x="277587" y="5655568"/>
            <a:ext cx="1704391" cy="759297"/>
          </a:xfrm>
          <a:prstGeom prst="rect">
            <a:avLst/>
          </a:prstGeom>
        </p:spPr>
      </p:pic>
      <p:pic>
        <p:nvPicPr>
          <p:cNvPr id="23" name="Picture 22" descr="A picture containing logo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A25B75E-8216-4248-83D3-EC26438E34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193" y="5558957"/>
            <a:ext cx="1593799" cy="952521"/>
          </a:xfrm>
          <a:prstGeom prst="rect">
            <a:avLst/>
          </a:prstGeom>
        </p:spPr>
      </p:pic>
      <p:pic>
        <p:nvPicPr>
          <p:cNvPr id="24" name="Picture 23" descr="Graphical user interface, text, applicati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99BE8E0D-4CD6-423C-B482-4BF691E004B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2" t="2384" r="19064" b="23051"/>
          <a:stretch/>
        </p:blipFill>
        <p:spPr>
          <a:xfrm>
            <a:off x="2735348" y="2557422"/>
            <a:ext cx="2211823" cy="1089203"/>
          </a:xfrm>
          <a:prstGeom prst="rect">
            <a:avLst/>
          </a:prstGeom>
        </p:spPr>
      </p:pic>
      <p:pic>
        <p:nvPicPr>
          <p:cNvPr id="26" name="Picture 25" descr="Logo&#10;&#10;Description automatically generated">
            <a:hlinkClick r:id="rId8"/>
            <a:extLst>
              <a:ext uri="{FF2B5EF4-FFF2-40B4-BE49-F238E27FC236}">
                <a16:creationId xmlns:a16="http://schemas.microsoft.com/office/drawing/2014/main" id="{3A1E1CA1-D56C-4DE1-9BDC-F2FA10D093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1" y="4194384"/>
            <a:ext cx="2366037" cy="1025101"/>
          </a:xfrm>
          <a:prstGeom prst="rect">
            <a:avLst/>
          </a:prstGeom>
        </p:spPr>
      </p:pic>
      <p:pic>
        <p:nvPicPr>
          <p:cNvPr id="29" name="Picture 28" descr="Text&#10;&#10;Description automatically generated with low confidence">
            <a:hlinkClick r:id="rId10"/>
            <a:extLst>
              <a:ext uri="{FF2B5EF4-FFF2-40B4-BE49-F238E27FC236}">
                <a16:creationId xmlns:a16="http://schemas.microsoft.com/office/drawing/2014/main" id="{7E770D87-9E84-428A-B6DE-60CA6A95A9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161" y="875362"/>
            <a:ext cx="2184284" cy="1714353"/>
          </a:xfrm>
          <a:prstGeom prst="rect">
            <a:avLst/>
          </a:prstGeom>
        </p:spPr>
      </p:pic>
      <p:pic>
        <p:nvPicPr>
          <p:cNvPr id="34" name="Picture 33" descr="A picture containing logo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68388868-5056-476F-9288-137236A042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500" y="5641819"/>
            <a:ext cx="1815525" cy="869659"/>
          </a:xfrm>
          <a:prstGeom prst="rect">
            <a:avLst/>
          </a:prstGeom>
        </p:spPr>
      </p:pic>
      <p:pic>
        <p:nvPicPr>
          <p:cNvPr id="35" name="Picture 34" descr="Logo&#10;&#10;Description automatically generated with low confidence">
            <a:hlinkClick r:id="rId14"/>
            <a:extLst>
              <a:ext uri="{FF2B5EF4-FFF2-40B4-BE49-F238E27FC236}">
                <a16:creationId xmlns:a16="http://schemas.microsoft.com/office/drawing/2014/main" id="{B87F00C9-0D0A-4D3E-82E8-9A2CFBB8B64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36" y="1383106"/>
            <a:ext cx="5236953" cy="965563"/>
          </a:xfrm>
          <a:prstGeom prst="rect">
            <a:avLst/>
          </a:prstGeom>
        </p:spPr>
      </p:pic>
      <p:pic>
        <p:nvPicPr>
          <p:cNvPr id="36" name="Picture 35" descr="Shape&#10;&#10;Description automatically generated with medium confidence">
            <a:hlinkClick r:id="rId16"/>
            <a:extLst>
              <a:ext uri="{FF2B5EF4-FFF2-40B4-BE49-F238E27FC236}">
                <a16:creationId xmlns:a16="http://schemas.microsoft.com/office/drawing/2014/main" id="{3B30853C-111E-4B36-8BEF-DFE3C6A84C5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761" y="5601521"/>
            <a:ext cx="2520171" cy="869659"/>
          </a:xfrm>
          <a:prstGeom prst="rect">
            <a:avLst/>
          </a:prstGeom>
        </p:spPr>
      </p:pic>
      <p:pic>
        <p:nvPicPr>
          <p:cNvPr id="37" name="Picture 36" descr="Logo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92837D2B-E933-480C-87FA-0B9DBAACA0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669" y="4086151"/>
            <a:ext cx="2779263" cy="1075844"/>
          </a:xfrm>
          <a:prstGeom prst="rect">
            <a:avLst/>
          </a:prstGeom>
        </p:spPr>
      </p:pic>
      <p:pic>
        <p:nvPicPr>
          <p:cNvPr id="38" name="Picture 37" descr="Graphical user interface&#10;&#10;Description automatically generated with low confidence">
            <a:hlinkClick r:id="rId20"/>
            <a:extLst>
              <a:ext uri="{FF2B5EF4-FFF2-40B4-BE49-F238E27FC236}">
                <a16:creationId xmlns:a16="http://schemas.microsoft.com/office/drawing/2014/main" id="{DF73092C-E471-4116-B890-7E225470388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35" y="1476349"/>
            <a:ext cx="1865077" cy="2314493"/>
          </a:xfrm>
          <a:prstGeom prst="rect">
            <a:avLst/>
          </a:prstGeom>
        </p:spPr>
      </p:pic>
      <p:pic>
        <p:nvPicPr>
          <p:cNvPr id="39" name="Picture 38" descr="Text&#10;&#10;Description automatically generated with low confidence">
            <a:hlinkClick r:id="rId22"/>
            <a:extLst>
              <a:ext uri="{FF2B5EF4-FFF2-40B4-BE49-F238E27FC236}">
                <a16:creationId xmlns:a16="http://schemas.microsoft.com/office/drawing/2014/main" id="{282CE06A-8307-4AAA-8AF5-19743201766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177" y="4363431"/>
            <a:ext cx="2757360" cy="621896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C1CA53F6-A2C4-4E43-8E82-B322807D580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945" y="3914016"/>
            <a:ext cx="1740047" cy="1218032"/>
          </a:xfrm>
          <a:prstGeom prst="rect">
            <a:avLst/>
          </a:prstGeom>
        </p:spPr>
      </p:pic>
      <p:pic>
        <p:nvPicPr>
          <p:cNvPr id="41" name="Picture 40" descr="Logo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A286012A-1A6D-4FD8-AF54-DE72F6FC32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469" y="2542277"/>
            <a:ext cx="1656523" cy="1104348"/>
          </a:xfrm>
          <a:prstGeom prst="rect">
            <a:avLst/>
          </a:prstGeom>
        </p:spPr>
      </p:pic>
      <p:pic>
        <p:nvPicPr>
          <p:cNvPr id="42" name="Picture 41" descr="A blue and white logo&#10;&#10;Description automatically generated with medium confidence">
            <a:hlinkClick r:id="rId28"/>
            <a:extLst>
              <a:ext uri="{FF2B5EF4-FFF2-40B4-BE49-F238E27FC236}">
                <a16:creationId xmlns:a16="http://schemas.microsoft.com/office/drawing/2014/main" id="{B5A85CC1-6CE9-43CE-84E8-5F0D26AF4C9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855" y="2585651"/>
            <a:ext cx="3396816" cy="94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5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5FB3-68F2-49D8-A153-8BAD1305E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22D599-06AA-45AE-9605-321A51F1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Partners</a:t>
            </a: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19D59668-3C9A-4BAE-83AF-92CB45919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498" y="1855527"/>
            <a:ext cx="3766935" cy="3521741"/>
          </a:xfrm>
          <a:prstGeom prst="rect">
            <a:avLst/>
          </a:prstGeom>
          <a:ln w="28575">
            <a:solidFill>
              <a:srgbClr val="4454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87460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/>
              <a:t>Course Objectives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8D315A-6C16-4DEB-B5E3-DB0BB0954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990601"/>
            <a:ext cx="5318632" cy="307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4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226000" y="1129728"/>
            <a:ext cx="9431173" cy="55465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600" dirty="0"/>
              <a:t>Working with linear data structures</a:t>
            </a:r>
          </a:p>
          <a:p>
            <a:pPr lvl="1">
              <a:buClr>
                <a:schemeClr val="tx1"/>
              </a:buClr>
            </a:pPr>
            <a:r>
              <a:rPr lang="en-US" sz="3400" dirty="0"/>
              <a:t>Arrays and Lists</a:t>
            </a:r>
          </a:p>
          <a:p>
            <a:pPr>
              <a:buClr>
                <a:schemeClr val="tx1"/>
              </a:buClr>
            </a:pPr>
            <a:r>
              <a:rPr lang="en-US" sz="3600" dirty="0"/>
              <a:t>Defining simple classes</a:t>
            </a:r>
          </a:p>
          <a:p>
            <a:pPr>
              <a:buClr>
                <a:schemeClr val="tx1"/>
              </a:buClr>
            </a:pPr>
            <a:r>
              <a:rPr lang="en-US" sz="3600" dirty="0"/>
              <a:t>Processing and manipulating strings</a:t>
            </a:r>
            <a:endParaRPr lang="en-US" sz="3600" dirty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3600" dirty="0"/>
              <a:t>Regular expressions</a:t>
            </a:r>
            <a:endParaRPr lang="bg-BG" sz="3600" dirty="0"/>
          </a:p>
          <a:p>
            <a:pPr>
              <a:buClr>
                <a:schemeClr val="tx1"/>
              </a:buClr>
            </a:pPr>
            <a:r>
              <a:rPr lang="en-US" sz="3600" dirty="0"/>
              <a:t>Building </a:t>
            </a:r>
            <a:r>
              <a:rPr lang="bg-BG" sz="3600" dirty="0"/>
              <a:t>а </a:t>
            </a:r>
            <a:r>
              <a:rPr lang="en-US" sz="3600" dirty="0"/>
              <a:t>simple web project</a:t>
            </a:r>
            <a:endParaRPr lang="bg-BG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Fundamentals Objectives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83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2AC9B3-CD5E-485F-AC84-B066819DD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900" dirty="0"/>
              <a:t>Mid Exam</a:t>
            </a:r>
          </a:p>
          <a:p>
            <a:pPr lvl="1"/>
            <a:r>
              <a:rPr lang="en-GB" sz="3700" dirty="0"/>
              <a:t>3 practical problems</a:t>
            </a:r>
            <a:r>
              <a:rPr lang="bg-BG" sz="3700" dirty="0"/>
              <a:t> </a:t>
            </a:r>
            <a:r>
              <a:rPr lang="en-GB" sz="3700" dirty="0"/>
              <a:t>for 4 hours</a:t>
            </a:r>
          </a:p>
          <a:p>
            <a:pPr lvl="2"/>
            <a:r>
              <a:rPr lang="en-GB" sz="3500" dirty="0"/>
              <a:t>Conditional Statements and Loops</a:t>
            </a:r>
          </a:p>
          <a:p>
            <a:pPr lvl="2"/>
            <a:r>
              <a:rPr lang="en-GB" sz="3500" dirty="0"/>
              <a:t>Arrays</a:t>
            </a:r>
          </a:p>
          <a:p>
            <a:pPr lvl="2"/>
            <a:r>
              <a:rPr lang="en-GB" sz="3500" dirty="0"/>
              <a:t>Lists</a:t>
            </a:r>
          </a:p>
          <a:p>
            <a:r>
              <a:rPr lang="en-GB" sz="3900" dirty="0"/>
              <a:t>Final Exam</a:t>
            </a:r>
          </a:p>
          <a:p>
            <a:pPr lvl="1"/>
            <a:r>
              <a:rPr lang="en-GB" sz="3700" dirty="0"/>
              <a:t>3 practical problems</a:t>
            </a:r>
            <a:r>
              <a:rPr lang="bg-BG" sz="3700" dirty="0"/>
              <a:t> </a:t>
            </a:r>
            <a:r>
              <a:rPr lang="en-US" sz="3700" dirty="0"/>
              <a:t>for 4 hours</a:t>
            </a:r>
          </a:p>
          <a:p>
            <a:pPr lvl="2"/>
            <a:r>
              <a:rPr lang="en-GB" sz="3800" dirty="0"/>
              <a:t>Associative Arrays</a:t>
            </a:r>
            <a:endParaRPr lang="en-GB" sz="3800" dirty="0">
              <a:solidFill>
                <a:srgbClr val="FF0000"/>
              </a:solidFill>
            </a:endParaRPr>
          </a:p>
          <a:p>
            <a:pPr lvl="2"/>
            <a:r>
              <a:rPr lang="en-GB" sz="3800" dirty="0"/>
              <a:t>Strings and Text Processing</a:t>
            </a:r>
          </a:p>
          <a:p>
            <a:pPr lvl="2"/>
            <a:r>
              <a:rPr lang="en-US" sz="3800" dirty="0"/>
              <a:t>Regular Expressions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710A67-8258-40BF-92EB-5591C8FB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Programming Exam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534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2AC9B3-CD5E-485F-AC84-B066819DD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will have </a:t>
            </a:r>
            <a:r>
              <a:rPr lang="en-GB" b="1" dirty="0">
                <a:solidFill>
                  <a:schemeClr val="bg1"/>
                </a:solidFill>
              </a:rPr>
              <a:t>30 minutes </a:t>
            </a:r>
            <a:r>
              <a:rPr lang="en-GB" dirty="0"/>
              <a:t>once you start</a:t>
            </a:r>
            <a:endParaRPr lang="bg-BG" dirty="0"/>
          </a:p>
          <a:p>
            <a:pPr lvl="1"/>
            <a:r>
              <a:rPr lang="en-US" dirty="0"/>
              <a:t>Multiple choice with </a:t>
            </a:r>
            <a:r>
              <a:rPr lang="en-US" b="1">
                <a:solidFill>
                  <a:schemeClr val="bg1"/>
                </a:solidFill>
              </a:rPr>
              <a:t>1 </a:t>
            </a:r>
            <a:r>
              <a:rPr lang="en-US"/>
              <a:t>correct answer</a:t>
            </a:r>
            <a:endParaRPr lang="en-GB" dirty="0"/>
          </a:p>
          <a:p>
            <a:pPr lvl="1"/>
            <a:r>
              <a:rPr lang="en-US" dirty="0"/>
              <a:t>English</a:t>
            </a:r>
            <a:endParaRPr lang="en-GB" dirty="0"/>
          </a:p>
          <a:p>
            <a:r>
              <a:rPr lang="en-GB" dirty="0"/>
              <a:t>Automated quiz system</a:t>
            </a:r>
          </a:p>
          <a:p>
            <a:r>
              <a:rPr lang="en-GB" dirty="0"/>
              <a:t>Available during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/>
              <a:t>the </a:t>
            </a:r>
            <a:r>
              <a:rPr lang="en-GB" b="1" dirty="0">
                <a:solidFill>
                  <a:schemeClr val="bg1"/>
                </a:solidFill>
              </a:rPr>
              <a:t>practical</a:t>
            </a:r>
            <a:r>
              <a:rPr lang="en-GB" dirty="0"/>
              <a:t> exam and </a:t>
            </a:r>
            <a:r>
              <a:rPr lang="en-GB" b="1" dirty="0">
                <a:solidFill>
                  <a:schemeClr val="bg1"/>
                </a:solidFill>
              </a:rPr>
              <a:t>30 minutes after it</a:t>
            </a:r>
          </a:p>
          <a:p>
            <a:pPr lvl="1"/>
            <a:r>
              <a:rPr lang="en-GB" dirty="0"/>
              <a:t>You can submit your answers just</a:t>
            </a:r>
            <a:r>
              <a:rPr lang="en-GB" b="1" dirty="0">
                <a:solidFill>
                  <a:schemeClr val="bg1"/>
                </a:solidFill>
              </a:rPr>
              <a:t> one time</a:t>
            </a:r>
            <a:endParaRPr lang="en-GB" dirty="0"/>
          </a:p>
          <a:p>
            <a:pPr lvl="1"/>
            <a:r>
              <a:rPr lang="en-GB" dirty="0"/>
              <a:t>Advice: Start it when you </a:t>
            </a:r>
            <a:r>
              <a:rPr lang="en-GB" b="1" dirty="0">
                <a:solidFill>
                  <a:schemeClr val="bg1"/>
                </a:solidFill>
              </a:rPr>
              <a:t>finish</a:t>
            </a:r>
            <a:r>
              <a:rPr lang="en-GB" dirty="0"/>
              <a:t> the </a:t>
            </a:r>
            <a:r>
              <a:rPr lang="en-GB" b="1" dirty="0">
                <a:solidFill>
                  <a:schemeClr val="bg1"/>
                </a:solidFill>
              </a:rPr>
              <a:t>practical</a:t>
            </a:r>
            <a:r>
              <a:rPr lang="en-GB" dirty="0"/>
              <a:t> </a:t>
            </a:r>
            <a:r>
              <a:rPr lang="en-GB" b="1" dirty="0">
                <a:solidFill>
                  <a:schemeClr val="bg1"/>
                </a:solidFill>
              </a:rPr>
              <a:t>exam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710A67-8258-40BF-92EB-5591C8FB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Theoretical Exam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861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/>
              <a:t>Course Organization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18B2E8-FA08-4AD1-ADB4-68B9103E8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406863"/>
            <a:ext cx="2833726" cy="223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C# Fundamentals Module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396902" y="2249541"/>
            <a:ext cx="11337898" cy="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96902" y="1990562"/>
            <a:ext cx="0" cy="517957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8031000" y="1990562"/>
            <a:ext cx="0" cy="517957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1734800" y="1990562"/>
            <a:ext cx="0" cy="517957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33" y="1527209"/>
            <a:ext cx="1340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9-Jan-2023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17752" y="1515687"/>
            <a:ext cx="1505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10-Apr-2023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57939-1894-404F-8183-80FA38B6E6DF}"/>
              </a:ext>
            </a:extLst>
          </p:cNvPr>
          <p:cNvSpPr/>
          <p:nvPr/>
        </p:nvSpPr>
        <p:spPr bwMode="auto">
          <a:xfrm>
            <a:off x="762008" y="2876044"/>
            <a:ext cx="5714986" cy="3049618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C# Fundamentals</a:t>
            </a:r>
          </a:p>
          <a:p>
            <a:pPr algn="ctr"/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12 weeks * 3 times / week</a:t>
            </a:r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credits</a:t>
            </a:r>
            <a:b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Start: 9-Jan-2023</a:t>
            </a:r>
            <a:endParaRPr lang="en-US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 Exam: 19-Feb-2023</a:t>
            </a:r>
          </a:p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Theoretical Exam: 2-Apr</a:t>
            </a:r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2023</a:t>
            </a:r>
          </a:p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exam: 2-Apr-2023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58DD2F-E922-4AEE-8C00-EF533916B367}"/>
              </a:ext>
            </a:extLst>
          </p:cNvPr>
          <p:cNvSpPr/>
          <p:nvPr/>
        </p:nvSpPr>
        <p:spPr bwMode="auto">
          <a:xfrm>
            <a:off x="7162800" y="2876044"/>
            <a:ext cx="4267200" cy="3049618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Retake Exams</a:t>
            </a:r>
          </a:p>
          <a:p>
            <a:pPr algn="ctr"/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 Exam</a:t>
            </a:r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Retake: 6-Apr-2023</a:t>
            </a:r>
          </a:p>
          <a:p>
            <a:pPr algn="ctr"/>
            <a:r>
              <a:rPr lang="bg-BG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</a:t>
            </a:r>
            <a:r>
              <a:rPr lang="en-US" sz="2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heoretical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Exam: 10-Apr-2023</a:t>
            </a:r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GB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Exam Retake : 10-Apr-2023</a:t>
            </a:r>
            <a:endParaRPr lang="bg-BG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GB" sz="2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AF716D-B52E-49E2-89FD-4BD24DC95A8C}"/>
              </a:ext>
            </a:extLst>
          </p:cNvPr>
          <p:cNvSpPr txBox="1"/>
          <p:nvPr/>
        </p:nvSpPr>
        <p:spPr>
          <a:xfrm>
            <a:off x="7255500" y="1536180"/>
            <a:ext cx="155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2</a:t>
            </a:r>
            <a:r>
              <a:rPr lang="en-US" sz="2000" b="1" dirty="0"/>
              <a:t>-Apr-2023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619501" y="1990561"/>
            <a:ext cx="0" cy="517957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AF716D-B52E-49E2-89FD-4BD24DC95A8C}"/>
              </a:ext>
            </a:extLst>
          </p:cNvPr>
          <p:cNvSpPr txBox="1"/>
          <p:nvPr/>
        </p:nvSpPr>
        <p:spPr>
          <a:xfrm>
            <a:off x="2868622" y="1575417"/>
            <a:ext cx="1501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19-Feb-2023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12433B-0F09-4B82-9A4B-A2F1D9FCC956}"/>
              </a:ext>
            </a:extLst>
          </p:cNvPr>
          <p:cNvCxnSpPr/>
          <p:nvPr/>
        </p:nvCxnSpPr>
        <p:spPr>
          <a:xfrm>
            <a:off x="9906000" y="1990562"/>
            <a:ext cx="0" cy="517957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85963B-9930-4190-BF0B-F92366065F15}"/>
              </a:ext>
            </a:extLst>
          </p:cNvPr>
          <p:cNvSpPr txBox="1"/>
          <p:nvPr/>
        </p:nvSpPr>
        <p:spPr>
          <a:xfrm>
            <a:off x="9130500" y="1529145"/>
            <a:ext cx="155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6-Apr-2023</a:t>
            </a:r>
          </a:p>
        </p:txBody>
      </p:sp>
    </p:spTree>
    <p:extLst>
      <p:ext uri="{BB962C8B-B14F-4D97-AF65-F5344CB8AC3E}">
        <p14:creationId xmlns:p14="http://schemas.microsoft.com/office/powerpoint/2010/main" val="130534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45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23C0DF-E8EC-4272-B941-FA13B1631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Practice</a:t>
            </a:r>
            <a:r>
              <a:rPr lang="en-US" dirty="0"/>
              <a:t> grade:</a:t>
            </a:r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10200"/>
              </a:spcBef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Theory</a:t>
            </a:r>
            <a:r>
              <a:rPr lang="en-US" dirty="0"/>
              <a:t> grade:</a:t>
            </a:r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10200"/>
              </a:spcBef>
            </a:pPr>
            <a:r>
              <a:rPr lang="en-US" dirty="0"/>
              <a:t>SoftUni Certificate: </a:t>
            </a:r>
            <a:r>
              <a:rPr lang="en-US" b="1" dirty="0">
                <a:solidFill>
                  <a:schemeClr val="bg1"/>
                </a:solidFill>
              </a:rPr>
              <a:t>5.00</a:t>
            </a:r>
            <a:r>
              <a:rPr lang="en-US" dirty="0"/>
              <a:t> from </a:t>
            </a:r>
            <a:r>
              <a:rPr lang="en-US" b="1" dirty="0">
                <a:solidFill>
                  <a:schemeClr val="bg1"/>
                </a:solidFill>
              </a:rPr>
              <a:t>Practice</a:t>
            </a:r>
          </a:p>
          <a:p>
            <a:r>
              <a:rPr lang="en-US" dirty="0"/>
              <a:t>CPE Certificate: </a:t>
            </a:r>
            <a:r>
              <a:rPr lang="en-US" b="1">
                <a:solidFill>
                  <a:schemeClr val="bg1"/>
                </a:solidFill>
              </a:rPr>
              <a:t>3.00</a:t>
            </a:r>
            <a:r>
              <a:rPr lang="en-US"/>
              <a:t> from </a:t>
            </a:r>
            <a:r>
              <a:rPr lang="en-US" b="1" dirty="0">
                <a:solidFill>
                  <a:schemeClr val="bg1"/>
                </a:solidFill>
              </a:rPr>
              <a:t>Practice</a:t>
            </a:r>
            <a:r>
              <a:rPr lang="en-US" dirty="0"/>
              <a:t> + </a:t>
            </a:r>
            <a:r>
              <a:rPr lang="en-US" b="1" dirty="0">
                <a:solidFill>
                  <a:schemeClr val="bg1"/>
                </a:solidFill>
              </a:rPr>
              <a:t>Theory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E3DCB63F-FD44-4609-977A-22F2E45969E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C7516-1DB3-4F3B-8E64-B6B5BCB70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</p:spPr>
        <p:txBody>
          <a:bodyPr/>
          <a:lstStyle/>
          <a:p>
            <a:r>
              <a:rPr lang="en-US" dirty="0"/>
              <a:t>Course Scoring</a:t>
            </a:r>
            <a:endParaRPr lang="bg-B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0D717C-6494-46D8-88C6-423AEB1F545D}"/>
              </a:ext>
            </a:extLst>
          </p:cNvPr>
          <p:cNvSpPr/>
          <p:nvPr/>
        </p:nvSpPr>
        <p:spPr bwMode="auto">
          <a:xfrm>
            <a:off x="673500" y="2393999"/>
            <a:ext cx="3285000" cy="5400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40 %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E866E-1C77-4101-8382-2572F460F704}"/>
              </a:ext>
            </a:extLst>
          </p:cNvPr>
          <p:cNvSpPr txBox="1"/>
          <p:nvPr/>
        </p:nvSpPr>
        <p:spPr>
          <a:xfrm>
            <a:off x="561000" y="1784858"/>
            <a:ext cx="3510000" cy="60914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0000" tIns="46800" rIns="90000" bIns="468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/>
              <a:t>Practical</a:t>
            </a:r>
            <a:r>
              <a:rPr lang="bg-BG" sz="3200" b="1" dirty="0"/>
              <a:t> </a:t>
            </a:r>
            <a:r>
              <a:rPr lang="en-US" sz="3200" b="1" dirty="0"/>
              <a:t>Mid Exam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C4248E-672D-4E30-9940-DCAE281AD9E6}"/>
              </a:ext>
            </a:extLst>
          </p:cNvPr>
          <p:cNvSpPr/>
          <p:nvPr/>
        </p:nvSpPr>
        <p:spPr bwMode="auto">
          <a:xfrm>
            <a:off x="8387697" y="2393999"/>
            <a:ext cx="1035000" cy="540000"/>
          </a:xfrm>
          <a:prstGeom prst="rect">
            <a:avLst/>
          </a:prstGeom>
          <a:solidFill>
            <a:schemeClr val="accent2">
              <a:alpha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+5 %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76D674-D102-4CFD-AFC6-F6DCC53E9D84}"/>
              </a:ext>
            </a:extLst>
          </p:cNvPr>
          <p:cNvSpPr txBox="1"/>
          <p:nvPr/>
        </p:nvSpPr>
        <p:spPr>
          <a:xfrm>
            <a:off x="7889247" y="1784857"/>
            <a:ext cx="2250000" cy="60914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0000" tIns="46800" rIns="90000" bIns="468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/>
              <a:t>Homework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68D60E-0D5D-48A3-8508-59D4A82CE142}"/>
              </a:ext>
            </a:extLst>
          </p:cNvPr>
          <p:cNvSpPr/>
          <p:nvPr/>
        </p:nvSpPr>
        <p:spPr bwMode="auto">
          <a:xfrm>
            <a:off x="651000" y="4289445"/>
            <a:ext cx="3285000" cy="5400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100 %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93FF74-467E-4300-84D2-98BD9613F6E1}"/>
              </a:ext>
            </a:extLst>
          </p:cNvPr>
          <p:cNvSpPr txBox="1"/>
          <p:nvPr/>
        </p:nvSpPr>
        <p:spPr>
          <a:xfrm>
            <a:off x="0" y="3704296"/>
            <a:ext cx="4320000" cy="60914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0000" tIns="46800" rIns="90000" bIns="468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/>
              <a:t>Theoretical Exam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D517F8C-5D33-4670-8994-3336CBB8973E}"/>
              </a:ext>
            </a:extLst>
          </p:cNvPr>
          <p:cNvSpPr/>
          <p:nvPr/>
        </p:nvSpPr>
        <p:spPr bwMode="auto">
          <a:xfrm>
            <a:off x="4396598" y="2393999"/>
            <a:ext cx="3285000" cy="5400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60 %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496884B2-B587-42C5-B56F-4C2F231E10D5}"/>
              </a:ext>
            </a:extLst>
          </p:cNvPr>
          <p:cNvSpPr txBox="1"/>
          <p:nvPr/>
        </p:nvSpPr>
        <p:spPr>
          <a:xfrm>
            <a:off x="4266747" y="1784857"/>
            <a:ext cx="3510000" cy="60914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0000" tIns="46800" rIns="90000" bIns="468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/>
              <a:t>Practical Final Exam</a:t>
            </a:r>
          </a:p>
        </p:txBody>
      </p:sp>
    </p:spTree>
    <p:extLst>
      <p:ext uri="{BB962C8B-B14F-4D97-AF65-F5344CB8AC3E}">
        <p14:creationId xmlns:p14="http://schemas.microsoft.com/office/powerpoint/2010/main" val="126612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Your homework is mainly work in class</a:t>
            </a:r>
          </a:p>
          <a:p>
            <a:pPr lvl="1"/>
            <a:r>
              <a:rPr lang="en-US" dirty="0"/>
              <a:t>Lesson days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slides + live demos + exercises</a:t>
            </a:r>
          </a:p>
          <a:p>
            <a:pPr lvl="1"/>
            <a:r>
              <a:rPr lang="en-US" dirty="0"/>
              <a:t>Exercise days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only exercises</a:t>
            </a:r>
          </a:p>
          <a:p>
            <a:r>
              <a:rPr lang="en-US" dirty="0"/>
              <a:t>How to submit your homework?</a:t>
            </a:r>
          </a:p>
          <a:p>
            <a:pPr lvl="1"/>
            <a:r>
              <a:rPr lang="en-US" dirty="0"/>
              <a:t>Submitted in the judge system</a:t>
            </a:r>
          </a:p>
          <a:p>
            <a:r>
              <a:rPr lang="en-US" dirty="0"/>
              <a:t>Do your homework when it's due</a:t>
            </a:r>
          </a:p>
          <a:p>
            <a:pPr lvl="1"/>
            <a:r>
              <a:rPr lang="en-US" dirty="0"/>
              <a:t>Assignments pile up quickly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Assignments &amp; Exercises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251CBD-913C-42B3-BA69-E7E7F60C9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665" y="2792421"/>
            <a:ext cx="3925676" cy="3733800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643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A88C-C72C-46FC-B1CD-F9B946D90B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course assignments require to </a:t>
            </a:r>
            <a:r>
              <a:rPr lang="en-US" b="1" dirty="0">
                <a:solidFill>
                  <a:schemeClr val="bg1"/>
                </a:solidFill>
              </a:rPr>
              <a:t>search in Internet</a:t>
            </a:r>
          </a:p>
          <a:p>
            <a:pPr lvl="1"/>
            <a:r>
              <a:rPr lang="en-US" dirty="0"/>
              <a:t>This is an important part of the learning process</a:t>
            </a:r>
          </a:p>
          <a:p>
            <a:pPr lvl="1"/>
            <a:r>
              <a:rPr lang="en-US" dirty="0"/>
              <a:t>Some exercises intentionally have no hints</a:t>
            </a:r>
          </a:p>
          <a:p>
            <a:pPr>
              <a:spcBef>
                <a:spcPts val="1800"/>
              </a:spcBef>
            </a:pPr>
            <a:r>
              <a:rPr lang="en-US" dirty="0"/>
              <a:t>Learn to find solutions!</a:t>
            </a:r>
          </a:p>
          <a:p>
            <a:pPr lvl="1"/>
            <a:r>
              <a:rPr lang="en-US" dirty="0"/>
              <a:t>Software development includes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everyday searching and learning</a:t>
            </a:r>
          </a:p>
          <a:p>
            <a:pPr lvl="1"/>
            <a:r>
              <a:rPr lang="en-US" dirty="0"/>
              <a:t>No excuses, just </a:t>
            </a:r>
            <a:r>
              <a:rPr lang="en-US" b="1" dirty="0">
                <a:solidFill>
                  <a:schemeClr val="bg1"/>
                </a:solidFill>
              </a:rPr>
              <a:t>learn to study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Developers learn new technologies, tools, languages every day!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to Search in Internet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B78E1C-877B-427F-AAEF-BEAD8D3C6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000" y="3960508"/>
            <a:ext cx="1591194" cy="1774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D0849A-0B29-4F4F-8E67-058FA055A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064" y="1981201"/>
            <a:ext cx="1719221" cy="1694835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A4664664-33FA-43DB-A3DE-24F85C69C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970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/>
              <a:t>The Team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D8692-CA7F-467D-B3BA-6F205A487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066800"/>
            <a:ext cx="1822172" cy="312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2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Stoyan Shopov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76000" y="6444000"/>
            <a:ext cx="317698" cy="262043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z="1000" smtClean="0"/>
              <a:pPr/>
              <a:t>16</a:t>
            </a:fld>
            <a:endParaRPr lang="en-US" sz="10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EC9C067-A013-4441-BAA0-8936A1190D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6" y="1196125"/>
            <a:ext cx="11818092" cy="552876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Senior Software Engineer </a:t>
            </a:r>
            <a:r>
              <a:rPr lang="en-US" dirty="0"/>
              <a:t>@ Grand Games</a:t>
            </a:r>
          </a:p>
          <a:p>
            <a:pPr>
              <a:lnSpc>
                <a:spcPct val="120000"/>
              </a:lnSpc>
            </a:pPr>
            <a:r>
              <a:rPr lang="en-US" b="1" dirty="0"/>
              <a:t>Technical</a:t>
            </a:r>
            <a:r>
              <a:rPr lang="en-US" dirty="0"/>
              <a:t> </a:t>
            </a:r>
            <a:r>
              <a:rPr lang="bg-BG" b="1" dirty="0"/>
              <a:t>Т</a:t>
            </a:r>
            <a:r>
              <a:rPr lang="en-US" b="1" dirty="0"/>
              <a:t>rainer</a:t>
            </a:r>
            <a:r>
              <a:rPr lang="en-US" dirty="0"/>
              <a:t> @ SoftUni ~5 years</a:t>
            </a:r>
          </a:p>
          <a:p>
            <a:pPr>
              <a:lnSpc>
                <a:spcPct val="120000"/>
              </a:lnSpc>
            </a:pPr>
            <a:r>
              <a:rPr lang="en-US" b="1" dirty="0"/>
              <a:t>Microsoft Certified Trainer</a:t>
            </a:r>
            <a:r>
              <a:rPr lang="en-US" dirty="0"/>
              <a:t> &amp; Public Speaker</a:t>
            </a:r>
          </a:p>
          <a:p>
            <a:pPr>
              <a:lnSpc>
                <a:spcPct val="120000"/>
              </a:lnSpc>
            </a:pPr>
            <a:r>
              <a:rPr lang="en-US" dirty="0"/>
              <a:t>Experience with </a:t>
            </a:r>
            <a:r>
              <a:rPr lang="en-US" b="1" dirty="0"/>
              <a:t>ASP.NET</a:t>
            </a:r>
            <a:r>
              <a:rPr lang="en-US" dirty="0"/>
              <a:t>, </a:t>
            </a:r>
            <a:r>
              <a:rPr lang="en-US" b="1" dirty="0"/>
              <a:t>Azure</a:t>
            </a:r>
            <a:r>
              <a:rPr lang="en-US" dirty="0"/>
              <a:t>,</a:t>
            </a:r>
            <a:r>
              <a:rPr lang="en-US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Unity </a:t>
            </a:r>
            <a:r>
              <a:rPr lang="en-US" dirty="0"/>
              <a:t>and others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6DBC27CB-2767-47AE-AECB-A88BD41A9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6000" y="1404000"/>
            <a:ext cx="3105000" cy="310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590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Dean Milanov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64988" y="6397198"/>
            <a:ext cx="428710" cy="30884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z="1000" smtClean="0"/>
              <a:pPr/>
              <a:t>17</a:t>
            </a:fld>
            <a:endParaRPr lang="en-US" sz="10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EC9C067-A013-4441-BAA0-8936A1190D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6" y="1196125"/>
            <a:ext cx="11818092" cy="5528766"/>
          </a:xfrm>
        </p:spPr>
        <p:txBody>
          <a:bodyPr>
            <a:normAutofit/>
          </a:bodyPr>
          <a:lstStyle/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Studied</a:t>
            </a:r>
            <a:r>
              <a:rPr lang="en-US" sz="3400" b="1" dirty="0"/>
              <a:t> Software Engineering @ FMI (SU)</a:t>
            </a:r>
            <a:endParaRPr lang="en-US" sz="3400" dirty="0"/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b="1" dirty="0"/>
              <a:t>Team Lead @ OSI </a:t>
            </a:r>
            <a:r>
              <a:rPr lang="en-US" sz="3400" dirty="0"/>
              <a:t>with focus on improving</a:t>
            </a:r>
          </a:p>
          <a:p>
            <a:pPr marL="304747" lvl="2" indent="0">
              <a:lnSpc>
                <a:spcPct val="100000"/>
              </a:lnSpc>
              <a:buClr>
                <a:schemeClr val="tx1"/>
              </a:buClr>
              <a:buSzPct val="100000"/>
              <a:buNone/>
            </a:pPr>
            <a:r>
              <a:rPr lang="en-US" sz="3400" dirty="0"/>
              <a:t>   web apps performance 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Interests include </a:t>
            </a:r>
            <a:r>
              <a:rPr lang="en-US" sz="3400" b="1" dirty="0"/>
              <a:t>.NET</a:t>
            </a:r>
            <a:r>
              <a:rPr lang="en-US" sz="3400" dirty="0"/>
              <a:t> &amp; </a:t>
            </a:r>
            <a:r>
              <a:rPr lang="en-US" sz="3400" b="1" dirty="0"/>
              <a:t>SQL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Programming experience since high school</a:t>
            </a:r>
          </a:p>
          <a:p>
            <a:pPr marL="609494" lvl="2" indent="-304747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US" sz="3400" dirty="0"/>
              <a:t>Experience in various </a:t>
            </a:r>
            <a:r>
              <a:rPr lang="en-US" sz="3400" b="1" dirty="0"/>
              <a:t>projects</a:t>
            </a:r>
            <a:r>
              <a:rPr lang="en-US" sz="3400" dirty="0"/>
              <a:t> in </a:t>
            </a:r>
            <a:r>
              <a:rPr lang="en-US" sz="3400" b="1" dirty="0"/>
              <a:t>healthcare</a:t>
            </a:r>
            <a:r>
              <a:rPr lang="en-US" sz="3400" dirty="0"/>
              <a:t>, </a:t>
            </a:r>
            <a:br>
              <a:rPr lang="en-US" sz="3400" dirty="0"/>
            </a:br>
            <a:r>
              <a:rPr lang="en-US" sz="3400" b="1" dirty="0"/>
              <a:t>finance</a:t>
            </a:r>
            <a:r>
              <a:rPr lang="en-US" sz="3400" dirty="0"/>
              <a:t> &amp; </a:t>
            </a:r>
            <a:r>
              <a:rPr lang="en-US" sz="3400" b="1" dirty="0"/>
              <a:t>trading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6DBC27CB-2767-47AE-AECB-A88BD41A9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6000" y="1314000"/>
            <a:ext cx="3017698" cy="30176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8705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Official web site: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Official discussion forum: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C# Fundamentals Facebook group: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 Site, Forum and FB 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993" y="1906402"/>
            <a:ext cx="9753103" cy="984269"/>
          </a:xfrm>
          <a:prstGeom prst="roundRect">
            <a:avLst>
              <a:gd name="adj" fmla="val 5953"/>
            </a:avLst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804" latinLnBrk="1">
              <a:spcBef>
                <a:spcPts val="600"/>
              </a:spcBef>
              <a:spcAft>
                <a:spcPts val="600"/>
              </a:spcAft>
            </a:pPr>
            <a:r>
              <a:rPr lang="en-US" sz="2399" b="1" noProof="1">
                <a:solidFill>
                  <a:schemeClr val="bg1"/>
                </a:solidFill>
                <a:latin typeface="Consolas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https://softuni.bg/trainings/3949/programming-fundamentals-january-2023</a:t>
            </a:r>
            <a:endParaRPr lang="en-US" sz="2399" b="1" noProof="1">
              <a:solidFill>
                <a:schemeClr val="bg1"/>
              </a:solidFill>
              <a:latin typeface="Consolas" pitchFamily="49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4075" y="3764832"/>
            <a:ext cx="9752595" cy="984533"/>
          </a:xfrm>
          <a:prstGeom prst="roundRect">
            <a:avLst>
              <a:gd name="adj" fmla="val 5953"/>
            </a:avLst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804" latinLnBrk="1">
              <a:spcBef>
                <a:spcPts val="600"/>
              </a:spcBef>
              <a:spcAft>
                <a:spcPts val="600"/>
              </a:spcAft>
            </a:pPr>
            <a:r>
              <a:rPr lang="en-US" sz="2400" b="1" u="sng" dirty="0">
                <a:solidFill>
                  <a:schemeClr val="bg1"/>
                </a:solidFill>
                <a:latin typeface="Consolas" panose="020B0609020204030204" pitchFamily="49" charset="0"/>
              </a:rPr>
              <a:t>https://softuni.bg/forum/categories/783/csharp-fundamentals</a:t>
            </a:r>
            <a:endParaRPr lang="en-US" sz="2399" b="1" noProof="1">
              <a:solidFill>
                <a:schemeClr val="bg1"/>
              </a:solidFill>
              <a:latin typeface="Consolas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0343" y="2788861"/>
            <a:ext cx="1468238" cy="14682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0343" y="1301917"/>
            <a:ext cx="1374490" cy="1374490"/>
          </a:xfrm>
          <a:prstGeom prst="rect">
            <a:avLst/>
          </a:prstGeom>
        </p:spPr>
      </p:pic>
      <p:sp>
        <p:nvSpPr>
          <p:cNvPr id="16" name="Rounded Rectangle 6"/>
          <p:cNvSpPr/>
          <p:nvPr/>
        </p:nvSpPr>
        <p:spPr>
          <a:xfrm>
            <a:off x="402993" y="5522467"/>
            <a:ext cx="9752595" cy="984533"/>
          </a:xfrm>
          <a:prstGeom prst="roundRect">
            <a:avLst>
              <a:gd name="adj" fmla="val 5953"/>
            </a:avLst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defTabSz="1218804" latinLnBrk="1">
              <a:spcBef>
                <a:spcPts val="600"/>
              </a:spcBef>
              <a:spcAft>
                <a:spcPts val="600"/>
              </a:spcAft>
              <a:tabLst>
                <a:tab pos="630238" algn="l"/>
              </a:tabLst>
            </a:pPr>
            <a:r>
              <a:rPr lang="en-US" sz="2400" b="1" u="sng" dirty="0">
                <a:solidFill>
                  <a:schemeClr val="bg1"/>
                </a:solidFill>
                <a:latin typeface="Consolas" panose="020B0609020204030204" pitchFamily="49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https://www.facebook.com/groups/ProgrammingFundamentalswithCsharpJanuary2023</a:t>
            </a:r>
            <a:endParaRPr lang="en-US" sz="2399" b="1" u="sng" noProof="1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11" name="Picture 8" descr="Резултат с изображение за facebook icon">
            <a:extLst>
              <a:ext uri="{FF2B5EF4-FFF2-40B4-BE49-F238E27FC236}">
                <a16:creationId xmlns:a16="http://schemas.microsoft.com/office/drawing/2014/main" id="{BC6D5563-FC72-4912-BED9-80FF6B1C9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343" y="4645493"/>
            <a:ext cx="1412635" cy="1412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13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234465"/>
                </a:solidFill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53892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about.softuni.bg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1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https://about.softuni.bg/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653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4011</TotalTime>
  <Words>827</Words>
  <Application>Microsoft Office PowerPoint</Application>
  <PresentationFormat>Widescreen</PresentationFormat>
  <Paragraphs>169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Wingdings</vt:lpstr>
      <vt:lpstr>Wingdings 2</vt:lpstr>
      <vt:lpstr>SoftUni</vt:lpstr>
      <vt:lpstr>C# Fundamentals</vt:lpstr>
      <vt:lpstr>Table of Contents</vt:lpstr>
      <vt:lpstr>Have a Question?</vt:lpstr>
      <vt:lpstr>SoftUni Diamond Partners</vt:lpstr>
      <vt:lpstr>Educational Partners</vt:lpstr>
      <vt:lpstr>Course Objectives</vt:lpstr>
      <vt:lpstr>C# Fundamentals Objectives</vt:lpstr>
      <vt:lpstr>Practical Programming Exam</vt:lpstr>
      <vt:lpstr>Theoretical Exam</vt:lpstr>
      <vt:lpstr>Course Organization</vt:lpstr>
      <vt:lpstr>C# Fundamentals Module</vt:lpstr>
      <vt:lpstr>Course Scoring</vt:lpstr>
      <vt:lpstr>Homework Assignments &amp; Exercises</vt:lpstr>
      <vt:lpstr>Learn to Search in Internet</vt:lpstr>
      <vt:lpstr>The Team</vt:lpstr>
      <vt:lpstr>Stoyan Shopov</vt:lpstr>
      <vt:lpstr>Dean Milanov</vt:lpstr>
      <vt:lpstr>Course Web Site, Forum and FB Group</vt:lpstr>
      <vt:lpstr>Questions?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Fundamentals - Course Introduction</dc:title>
  <dc:subject>C# Fundamentals – Practical Training Course @ SoftUni</dc:subject>
  <dc:creator>Software University</dc:creator>
  <cp:keywords>C# Fundamentals; tech; fundamentals; technologySoftware University; SoftUni; programming; coding; software development; education; training; course</cp:keywords>
  <dc:description>© SoftUni – https://about.softuni.bg/
© Software University – https://softuni.bg
Copyrighted document. Unauthorized copy, reproduction or use is not permitted.</dc:description>
  <cp:lastModifiedBy>Aleksandra Raykova</cp:lastModifiedBy>
  <cp:revision>132</cp:revision>
  <dcterms:created xsi:type="dcterms:W3CDTF">2018-05-23T13:08:44Z</dcterms:created>
  <dcterms:modified xsi:type="dcterms:W3CDTF">2023-03-21T14:02:04Z</dcterms:modified>
  <cp:category>programming;education;software engineering;software development</cp:category>
</cp:coreProperties>
</file>